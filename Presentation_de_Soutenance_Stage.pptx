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ink/ink1.xml" ContentType="application/inkml+xml"/>
  <Override PartName="/ppt/ink/ink2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70" r:id="rId5"/>
    <p:sldId id="272" r:id="rId6"/>
    <p:sldId id="257" r:id="rId7"/>
    <p:sldId id="258" r:id="rId8"/>
    <p:sldId id="259" r:id="rId9"/>
    <p:sldId id="260" r:id="rId10"/>
    <p:sldId id="261" r:id="rId11"/>
    <p:sldId id="262" r:id="rId12"/>
    <p:sldId id="267" r:id="rId13"/>
    <p:sldId id="264" r:id="rId14"/>
    <p:sldId id="266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9CC8DD-4753-46C0-A663-1F94721631DD}" v="192" dt="2026-09-10T07:02:26.9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77278" autoAdjust="0"/>
  </p:normalViewPr>
  <p:slideViewPr>
    <p:cSldViewPr snapToGrid="0" snapToObjects="1">
      <p:cViewPr varScale="1">
        <p:scale>
          <a:sx n="72" d="100"/>
          <a:sy n="72" d="100"/>
        </p:scale>
        <p:origin x="4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lestine LENO" userId="bc540d1a-ca64-4a69-9345-af2fb4af86e1" providerId="ADAL" clId="{46780370-848F-4510-8B6D-127870AFF564}"/>
    <pc:docChg chg="custSel addSld delSld modSld">
      <pc:chgData name="Celestine LENO" userId="bc540d1a-ca64-4a69-9345-af2fb4af86e1" providerId="ADAL" clId="{46780370-848F-4510-8B6D-127870AFF564}" dt="2026-09-10T07:03:49.461" v="199" actId="1076"/>
      <pc:docMkLst>
        <pc:docMk/>
      </pc:docMkLst>
      <pc:sldChg chg="modSp del modTransition modAnim">
        <pc:chgData name="Celestine LENO" userId="bc540d1a-ca64-4a69-9345-af2fb4af86e1" providerId="ADAL" clId="{46780370-848F-4510-8B6D-127870AFF564}" dt="2026-09-10T07:02:46.527" v="193" actId="2696"/>
        <pc:sldMkLst>
          <pc:docMk/>
          <pc:sldMk cId="0" sldId="256"/>
        </pc:sldMkLst>
        <pc:spChg chg="mod">
          <ac:chgData name="Celestine LENO" userId="bc540d1a-ca64-4a69-9345-af2fb4af86e1" providerId="ADAL" clId="{46780370-848F-4510-8B6D-127870AFF564}" dt="2026-09-10T05:59:57.848" v="187" actId="20577"/>
          <ac:spMkLst>
            <pc:docMk/>
            <pc:sldMk cId="0" sldId="256"/>
            <ac:spMk id="5" creationId="{00000000-0000-0000-0000-000000000000}"/>
          </ac:spMkLst>
        </pc:spChg>
      </pc:sldChg>
      <pc:sldChg chg="modTransition modAnim">
        <pc:chgData name="Celestine LENO" userId="bc540d1a-ca64-4a69-9345-af2fb4af86e1" providerId="ADAL" clId="{46780370-848F-4510-8B6D-127870AFF564}" dt="2026-09-07T21:46:46.653" v="177"/>
        <pc:sldMkLst>
          <pc:docMk/>
          <pc:sldMk cId="0" sldId="257"/>
        </pc:sldMkLst>
      </pc:sldChg>
      <pc:sldChg chg="modTransition modAnim">
        <pc:chgData name="Celestine LENO" userId="bc540d1a-ca64-4a69-9345-af2fb4af86e1" providerId="ADAL" clId="{46780370-848F-4510-8B6D-127870AFF564}" dt="2026-09-07T21:47:28.073" v="184"/>
        <pc:sldMkLst>
          <pc:docMk/>
          <pc:sldMk cId="0" sldId="258"/>
        </pc:sldMkLst>
      </pc:sldChg>
      <pc:sldChg chg="modTransition">
        <pc:chgData name="Celestine LENO" userId="bc540d1a-ca64-4a69-9345-af2fb4af86e1" providerId="ADAL" clId="{46780370-848F-4510-8B6D-127870AFF564}" dt="2026-09-07T21:02:38.163" v="49"/>
        <pc:sldMkLst>
          <pc:docMk/>
          <pc:sldMk cId="0" sldId="259"/>
        </pc:sldMkLst>
      </pc:sldChg>
      <pc:sldChg chg="modTransition">
        <pc:chgData name="Celestine LENO" userId="bc540d1a-ca64-4a69-9345-af2fb4af86e1" providerId="ADAL" clId="{46780370-848F-4510-8B6D-127870AFF564}" dt="2026-09-07T21:03:25.969" v="57"/>
        <pc:sldMkLst>
          <pc:docMk/>
          <pc:sldMk cId="0" sldId="260"/>
        </pc:sldMkLst>
      </pc:sldChg>
      <pc:sldChg chg="delSp modSp mod modTransition">
        <pc:chgData name="Celestine LENO" userId="bc540d1a-ca64-4a69-9345-af2fb4af86e1" providerId="ADAL" clId="{46780370-848F-4510-8B6D-127870AFF564}" dt="2026-09-10T07:03:13.141" v="195" actId="14100"/>
        <pc:sldMkLst>
          <pc:docMk/>
          <pc:sldMk cId="0" sldId="261"/>
        </pc:sldMkLst>
        <pc:spChg chg="del">
          <ac:chgData name="Celestine LENO" userId="bc540d1a-ca64-4a69-9345-af2fb4af86e1" providerId="ADAL" clId="{46780370-848F-4510-8B6D-127870AFF564}" dt="2026-09-10T07:03:07.964" v="194" actId="478"/>
          <ac:spMkLst>
            <pc:docMk/>
            <pc:sldMk cId="0" sldId="261"/>
            <ac:spMk id="9" creationId="{00000000-0000-0000-0000-000000000000}"/>
          </ac:spMkLst>
        </pc:spChg>
        <pc:spChg chg="mod">
          <ac:chgData name="Celestine LENO" userId="bc540d1a-ca64-4a69-9345-af2fb4af86e1" providerId="ADAL" clId="{46780370-848F-4510-8B6D-127870AFF564}" dt="2026-09-10T07:03:13.141" v="195" actId="14100"/>
          <ac:spMkLst>
            <pc:docMk/>
            <pc:sldMk cId="0" sldId="261"/>
            <ac:spMk id="10" creationId="{00000000-0000-0000-0000-000000000000}"/>
          </ac:spMkLst>
        </pc:spChg>
      </pc:sldChg>
      <pc:sldChg chg="delSp modSp mod modTransition">
        <pc:chgData name="Celestine LENO" userId="bc540d1a-ca64-4a69-9345-af2fb4af86e1" providerId="ADAL" clId="{46780370-848F-4510-8B6D-127870AFF564}" dt="2026-09-10T07:03:49.461" v="199" actId="1076"/>
        <pc:sldMkLst>
          <pc:docMk/>
          <pc:sldMk cId="0" sldId="262"/>
        </pc:sldMkLst>
        <pc:spChg chg="del">
          <ac:chgData name="Celestine LENO" userId="bc540d1a-ca64-4a69-9345-af2fb4af86e1" providerId="ADAL" clId="{46780370-848F-4510-8B6D-127870AFF564}" dt="2026-09-10T07:03:26.511" v="196" actId="478"/>
          <ac:spMkLst>
            <pc:docMk/>
            <pc:sldMk cId="0" sldId="262"/>
            <ac:spMk id="20" creationId="{00000000-0000-0000-0000-000000000000}"/>
          </ac:spMkLst>
        </pc:spChg>
        <pc:spChg chg="mod">
          <ac:chgData name="Celestine LENO" userId="bc540d1a-ca64-4a69-9345-af2fb4af86e1" providerId="ADAL" clId="{46780370-848F-4510-8B6D-127870AFF564}" dt="2026-09-10T07:03:49.461" v="199" actId="1076"/>
          <ac:spMkLst>
            <pc:docMk/>
            <pc:sldMk cId="0" sldId="262"/>
            <ac:spMk id="21" creationId="{00000000-0000-0000-0000-000000000000}"/>
          </ac:spMkLst>
        </pc:spChg>
      </pc:sldChg>
      <pc:sldChg chg="modTransition">
        <pc:chgData name="Celestine LENO" userId="bc540d1a-ca64-4a69-9345-af2fb4af86e1" providerId="ADAL" clId="{46780370-848F-4510-8B6D-127870AFF564}" dt="2026-09-07T21:08:57.770" v="105"/>
        <pc:sldMkLst>
          <pc:docMk/>
          <pc:sldMk cId="0" sldId="264"/>
        </pc:sldMkLst>
      </pc:sldChg>
      <pc:sldChg chg="modTransition">
        <pc:chgData name="Celestine LENO" userId="bc540d1a-ca64-4a69-9345-af2fb4af86e1" providerId="ADAL" clId="{46780370-848F-4510-8B6D-127870AFF564}" dt="2026-09-07T21:10:24.749" v="130"/>
        <pc:sldMkLst>
          <pc:docMk/>
          <pc:sldMk cId="0" sldId="266"/>
        </pc:sldMkLst>
      </pc:sldChg>
      <pc:sldChg chg="modTransition">
        <pc:chgData name="Celestine LENO" userId="bc540d1a-ca64-4a69-9345-af2fb4af86e1" providerId="ADAL" clId="{46780370-848F-4510-8B6D-127870AFF564}" dt="2026-09-07T21:08:04.847" v="100"/>
        <pc:sldMkLst>
          <pc:docMk/>
          <pc:sldMk cId="3662078640" sldId="267"/>
        </pc:sldMkLst>
      </pc:sldChg>
      <pc:sldChg chg="modTransition">
        <pc:chgData name="Celestine LENO" userId="bc540d1a-ca64-4a69-9345-af2fb4af86e1" providerId="ADAL" clId="{46780370-848F-4510-8B6D-127870AFF564}" dt="2026-09-07T21:15:48.941" v="134"/>
        <pc:sldMkLst>
          <pc:docMk/>
          <pc:sldMk cId="344001144" sldId="268"/>
        </pc:sldMkLst>
      </pc:sldChg>
      <pc:sldChg chg="addSp delSp new del mod">
        <pc:chgData name="Celestine LENO" userId="bc540d1a-ca64-4a69-9345-af2fb4af86e1" providerId="ADAL" clId="{46780370-848F-4510-8B6D-127870AFF564}" dt="2026-09-10T07:02:37.852" v="192" actId="2696"/>
        <pc:sldMkLst>
          <pc:docMk/>
          <pc:sldMk cId="2109391138" sldId="269"/>
        </pc:sldMkLst>
        <pc:picChg chg="add del">
          <ac:chgData name="Celestine LENO" userId="bc540d1a-ca64-4a69-9345-af2fb4af86e1" providerId="ADAL" clId="{46780370-848F-4510-8B6D-127870AFF564}" dt="2026-09-10T07:02:03.838" v="190" actId="478"/>
          <ac:picMkLst>
            <pc:docMk/>
            <pc:sldMk cId="2109391138" sldId="269"/>
            <ac:picMk id="3" creationId="{3AD904B7-FC03-FF84-39A4-5D1BB5DA20DF}"/>
          </ac:picMkLst>
        </pc:picChg>
      </pc:sldChg>
      <pc:sldChg chg="add setBg">
        <pc:chgData name="Celestine LENO" userId="bc540d1a-ca64-4a69-9345-af2fb4af86e1" providerId="ADAL" clId="{46780370-848F-4510-8B6D-127870AFF564}" dt="2026-09-10T07:02:26.981" v="191"/>
        <pc:sldMkLst>
          <pc:docMk/>
          <pc:sldMk cId="0" sldId="27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E3D"/>
                </a:solidFill>
                <a:latin typeface="Calibri"/>
              </a:defRPr>
            </a:pPr>
            <a:r>
              <a:rPr lang="fr-FR" sz="1300" b="0" i="0" u="none" strike="noStrike">
                <a:solidFill>
                  <a:srgbClr val="0F2E3D"/>
                </a:solidFill>
                <a:latin typeface="Calibri"/>
              </a:rPr>
              <a:t>Gain de RMSE sur le jeu de test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Réduction du RMSE vs baseline (%)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2E3D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Photovoltaïque</c:v>
                </c:pt>
                <c:pt idx="1">
                  <c:v>Éolien</c:v>
                </c:pt>
                <c:pt idx="2">
                  <c:v>Demande électrique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51.67</c:v>
                </c:pt>
                <c:pt idx="1">
                  <c:v>78.05</c:v>
                </c:pt>
                <c:pt idx="2">
                  <c:v>85.46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FD-428E-AFE6-020060F636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624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EB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F2E3D"/>
                </a:solidFill>
                <a:latin typeface="Calibri"/>
              </a:defRPr>
            </a:pPr>
            <a:r>
              <a:rPr lang="fr-FR" sz="1250" b="0" i="0" u="none" strike="noStrike">
                <a:solidFill>
                  <a:srgbClr val="0F2E3D"/>
                </a:solidFill>
                <a:latin typeface="Calibri"/>
              </a:rPr>
              <a:t>Gain de RMSE vs baseline — validation externe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Allemagne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42C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Photovoltaïque</c:v>
                </c:pt>
                <c:pt idx="1">
                  <c:v>Éolien</c:v>
                </c:pt>
                <c:pt idx="2">
                  <c:v>Demande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</c:v>
                </c:pt>
                <c:pt idx="1">
                  <c:v>1.3</c:v>
                </c:pt>
                <c:pt idx="2">
                  <c:v>75.7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71-4BC7-B07B-4149138CF0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Maroc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42C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Photovoltaïque</c:v>
                </c:pt>
                <c:pt idx="1">
                  <c:v>Éolien</c:v>
                </c:pt>
                <c:pt idx="2">
                  <c:v>Demande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76</c:v>
                </c:pt>
                <c:pt idx="1">
                  <c:v>-3.6</c:v>
                </c:pt>
                <c:pt idx="2">
                  <c:v>79.7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71-4BC7-B07B-4149138CF0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4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B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6242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6:45:31.6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35 24575,'0'-2'0,"0"-3"0,0-2 0,0-3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6:45:44.3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7 124 24575,'0'-2'0,"0"-3"0,0-2 0,0-2 0,0-2 0,0 0 0,0-1 0,0-1 0,0 1 0,0 0 0,0 0 0,-2 2 0,-3 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6268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s notes 1">
            <a:extLst>
              <a:ext uri="{FF2B5EF4-FFF2-40B4-BE49-F238E27FC236}">
                <a16:creationId xmlns:a16="http://schemas.microsoft.com/office/drawing/2014/main" id="{1084644A-FCFE-E21F-42AB-1ED1FE9B9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9BDDE-F035-DB64-0FE1-F0889FFFE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55ADF0-F4FA-6084-3639-1550E21610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7D04B-A547-26CE-8DFC-6CA9A6189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A23C2-98CC-0DD9-209B-0D8F18B4F2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5729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E956B-95E0-0AF9-4BB3-4CB2C3955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F1232-1F32-EFAF-C854-5D0971D6C8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FAB4AC-6F88-59D5-DA48-F19C8BA7D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0D594-EDC7-3E9A-C521-11C627D1E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215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customXml" Target="../ink/ink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542" y="-2992581"/>
            <a:ext cx="5943600" cy="5943600"/>
          </a:xfrm>
          <a:prstGeom prst="ellipse">
            <a:avLst/>
          </a:prstGeom>
          <a:solidFill>
            <a:srgbClr val="F2A541">
              <a:alpha val="12000"/>
            </a:srgbClr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4572000" y="3703320"/>
            <a:ext cx="5303520" cy="5303520"/>
          </a:xfrm>
          <a:prstGeom prst="ellipse">
            <a:avLst/>
          </a:prstGeom>
          <a:solidFill>
            <a:srgbClr val="3099D6">
              <a:alpha val="20000"/>
            </a:srgbClr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02920" y="1774268"/>
            <a:ext cx="9144000" cy="354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2A5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SOUTENANCE DE PROJET DE FIN D'ÉTUDES  </a:t>
            </a:r>
          </a:p>
          <a:p>
            <a:pPr marL="0" indent="0">
              <a:buNone/>
            </a:pPr>
            <a:r>
              <a:rPr lang="en-US" sz="2400" b="1" kern="0" spc="200" dirty="0">
                <a:solidFill>
                  <a:srgbClr val="F2A5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MASTER 2 INFORMATIQUE EI2D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5599177"/>
            <a:ext cx="10698480" cy="0"/>
          </a:xfrm>
          <a:prstGeom prst="line">
            <a:avLst/>
          </a:prstGeom>
          <a:noFill/>
          <a:ln w="12700">
            <a:solidFill>
              <a:srgbClr val="B8DCF2"/>
            </a:solidFill>
            <a:prstDash val="solid"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0080" y="5733289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50" dirty="0">
                <a:solidFill>
                  <a:srgbClr val="3099D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PRÉSENTÉ PAR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31520" y="6002441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Célestine LENO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343400" y="5696713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50" dirty="0">
                <a:solidFill>
                  <a:srgbClr val="3099D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ENCADRANTS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343400" y="5989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Pr. Younès Bennani Meziane (référent)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M. Ali Yahyaouy (tuteur de stage)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955280" y="5660137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50" dirty="0">
                <a:solidFill>
                  <a:srgbClr val="3099D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ORGANISMES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955280" y="5989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Université Sorbonne Paris Nord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USMBA - Faculté des Sciences de Fès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F5AD4D4F-4A30-18D2-788C-D42602EDCE38}"/>
              </a:ext>
            </a:extLst>
          </p:cNvPr>
          <p:cNvSpPr/>
          <p:nvPr/>
        </p:nvSpPr>
        <p:spPr>
          <a:xfrm>
            <a:off x="465748" y="2806118"/>
            <a:ext cx="11018520" cy="234557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E75C434-B0B8-567D-5855-5A5747CA790A}"/>
              </a:ext>
            </a:extLst>
          </p:cNvPr>
          <p:cNvSpPr txBox="1"/>
          <p:nvPr/>
        </p:nvSpPr>
        <p:spPr>
          <a:xfrm>
            <a:off x="502920" y="2951019"/>
            <a:ext cx="1128868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Utilisation</a:t>
            </a:r>
            <a:r>
              <a:rPr lang="en-US" sz="4000" b="1" dirty="0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des techniques </a:t>
            </a:r>
            <a:r>
              <a:rPr lang="en-US" sz="4000" b="1" dirty="0" err="1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d’intelligence</a:t>
            </a:r>
            <a:r>
              <a:rPr lang="en-US" sz="4000" b="1" dirty="0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artificielle</a:t>
            </a:r>
            <a:r>
              <a:rPr lang="en-US" sz="4000" b="1" dirty="0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pour </a:t>
            </a:r>
            <a:r>
              <a:rPr lang="en-US" sz="4000" b="1" dirty="0" err="1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une</a:t>
            </a:r>
            <a:r>
              <a:rPr lang="en-US" sz="4000" b="1" dirty="0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meilleure</a:t>
            </a:r>
            <a:r>
              <a:rPr lang="en-US" sz="4000" b="1" dirty="0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production </a:t>
            </a:r>
            <a:r>
              <a:rPr lang="en-US" sz="4000" b="1" dirty="0" err="1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énergétique</a:t>
            </a:r>
            <a:r>
              <a:rPr lang="en-US" sz="4000" b="1" dirty="0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basée</a:t>
            </a:r>
            <a:r>
              <a:rPr lang="en-US" sz="4000" b="1" dirty="0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sur les changements </a:t>
            </a:r>
            <a:r>
              <a:rPr lang="en-US" sz="4000" b="1" dirty="0" err="1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climatiques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46210FC5-FD22-52FE-1EF4-D762E39E0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19474" cy="997001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144E6C68-29E5-9086-7B29-C2D7304810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9527" y="23445"/>
            <a:ext cx="2812473" cy="1039392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0A64C106-84E3-358A-5367-BA112FFEE3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1726" y="23445"/>
            <a:ext cx="1131071" cy="10283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29811"/>
            <a:ext cx="518821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EF9B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 DE LA PRÉSENTATION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62749"/>
            <a:ext cx="754168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la </a:t>
            </a:r>
            <a:r>
              <a:rPr sz="2400" dirty="0" err="1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prévision</a:t>
            </a:r>
            <a:r>
              <a:rPr sz="2400" dirty="0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énergétique</a:t>
            </a:r>
            <a:r>
              <a:rPr sz="2400" dirty="0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à </a:t>
            </a:r>
            <a:r>
              <a:rPr sz="2400" dirty="0" err="1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l’aide</a:t>
            </a:r>
            <a:r>
              <a:rPr sz="2400" dirty="0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à la </a:t>
            </a:r>
            <a:r>
              <a:rPr sz="2400" dirty="0" err="1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décision</a:t>
            </a:r>
            <a:r>
              <a:rPr sz="2400" dirty="0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climatique</a:t>
            </a:r>
            <a:endParaRPr sz="2400" dirty="0">
              <a:solidFill>
                <a:srgbClr val="1C374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2534870"/>
            <a:ext cx="4983480" cy="1508760"/>
          </a:xfrm>
          <a:prstGeom prst="roundRect">
            <a:avLst/>
          </a:prstGeom>
          <a:solidFill>
            <a:srgbClr val="FAFDFF"/>
          </a:solidFill>
          <a:ln w="15240">
            <a:solidFill>
              <a:srgbClr val="A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914400" y="2865789"/>
            <a:ext cx="658368" cy="658368"/>
          </a:xfrm>
          <a:prstGeom prst="ellipse">
            <a:avLst/>
          </a:prstGeom>
          <a:solidFill>
            <a:srgbClr val="329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8562" y="2757142"/>
            <a:ext cx="348294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 err="1">
                <a:solidFill>
                  <a:srgbClr val="144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Comprendre</a:t>
            </a:r>
            <a:r>
              <a:rPr sz="2400" b="1" dirty="0">
                <a:solidFill>
                  <a:srgbClr val="144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sz="2400" b="1" dirty="0" err="1">
                <a:solidFill>
                  <a:srgbClr val="144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problème</a:t>
            </a:r>
            <a:endParaRPr sz="2400" b="1" dirty="0">
              <a:solidFill>
                <a:srgbClr val="1443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80251" y="3352709"/>
            <a:ext cx="371127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Contexte</a:t>
            </a:r>
            <a:r>
              <a:rPr sz="2000" dirty="0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dirty="0" err="1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enjeux</a:t>
            </a:r>
            <a:r>
              <a:rPr sz="2000" dirty="0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sz="2000" dirty="0" err="1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problématique</a:t>
            </a:r>
            <a:endParaRPr sz="2000" dirty="0">
              <a:solidFill>
                <a:srgbClr val="1C374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93317" y="2520879"/>
            <a:ext cx="4983480" cy="1508760"/>
          </a:xfrm>
          <a:prstGeom prst="roundRect">
            <a:avLst/>
          </a:prstGeom>
          <a:solidFill>
            <a:srgbClr val="FAFDFF"/>
          </a:solidFill>
          <a:ln w="15240">
            <a:solidFill>
              <a:srgbClr val="A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6400800" y="2865789"/>
            <a:ext cx="658368" cy="658368"/>
          </a:xfrm>
          <a:prstGeom prst="ellipse">
            <a:avLst/>
          </a:prstGeom>
          <a:solidFill>
            <a:srgbClr val="EF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94277" y="2757142"/>
            <a:ext cx="298113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 err="1">
                <a:solidFill>
                  <a:srgbClr val="144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Construire</a:t>
            </a:r>
            <a:r>
              <a:rPr sz="2400" b="1" dirty="0">
                <a:solidFill>
                  <a:srgbClr val="144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sz="2400" b="1" dirty="0" err="1">
                <a:solidFill>
                  <a:srgbClr val="144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évaluer</a:t>
            </a:r>
            <a:endParaRPr sz="2400" b="1" dirty="0">
              <a:solidFill>
                <a:srgbClr val="1443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91133" y="3359321"/>
            <a:ext cx="396454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Données, </a:t>
            </a:r>
            <a:r>
              <a:rPr sz="2000" dirty="0" err="1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protocole</a:t>
            </a:r>
            <a:r>
              <a:rPr sz="2000" dirty="0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sz="2000" dirty="0" err="1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prévision</a:t>
            </a:r>
            <a:r>
              <a:rPr sz="2000" dirty="0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H+1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518567"/>
            <a:ext cx="4983480" cy="1508760"/>
          </a:xfrm>
          <a:prstGeom prst="roundRect">
            <a:avLst/>
          </a:prstGeom>
          <a:solidFill>
            <a:srgbClr val="FAFDFF"/>
          </a:solidFill>
          <a:ln w="15240">
            <a:solidFill>
              <a:srgbClr val="A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914400" y="4774599"/>
            <a:ext cx="658368" cy="658368"/>
          </a:xfrm>
          <a:prstGeom prst="ellipse">
            <a:avLst/>
          </a:prstGeom>
          <a:solidFill>
            <a:srgbClr val="329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719734"/>
            <a:ext cx="322537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44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Tester et </a:t>
            </a:r>
            <a:r>
              <a:rPr sz="2400" b="1" dirty="0" err="1">
                <a:solidFill>
                  <a:srgbClr val="144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contextualiser</a:t>
            </a:r>
            <a:endParaRPr sz="2400" b="1" dirty="0">
              <a:solidFill>
                <a:srgbClr val="1443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42680" y="5252621"/>
            <a:ext cx="383470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Robustesse</a:t>
            </a:r>
            <a:r>
              <a:rPr sz="2000" dirty="0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dirty="0" err="1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transférabilité</a:t>
            </a:r>
            <a:r>
              <a:rPr sz="2000" dirty="0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sz="2000" dirty="0" err="1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</a:t>
            </a:r>
            <a:endParaRPr sz="2000" dirty="0">
              <a:solidFill>
                <a:srgbClr val="1C374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72200" y="4518567"/>
            <a:ext cx="4983480" cy="1508760"/>
          </a:xfrm>
          <a:prstGeom prst="roundRect">
            <a:avLst/>
          </a:prstGeom>
          <a:solidFill>
            <a:srgbClr val="FAFDFF"/>
          </a:solidFill>
          <a:ln w="15240">
            <a:solidFill>
              <a:srgbClr val="A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400800" y="4774599"/>
            <a:ext cx="658368" cy="658368"/>
          </a:xfrm>
          <a:prstGeom prst="ellipse">
            <a:avLst/>
          </a:prstGeom>
          <a:solidFill>
            <a:srgbClr val="EF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sz="15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23760" y="4719734"/>
            <a:ext cx="271747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 err="1">
                <a:solidFill>
                  <a:srgbClr val="144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Décider</a:t>
            </a:r>
            <a:r>
              <a:rPr sz="2400" b="1" dirty="0">
                <a:solidFill>
                  <a:srgbClr val="144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sz="2400" b="1" dirty="0" err="1">
                <a:solidFill>
                  <a:srgbClr val="144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conclure</a:t>
            </a:r>
            <a:endParaRPr sz="2400" b="1" dirty="0">
              <a:solidFill>
                <a:srgbClr val="1443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69660" y="5284317"/>
            <a:ext cx="42755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Scénarios</a:t>
            </a:r>
            <a:r>
              <a:rPr sz="2000" dirty="0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dirty="0" err="1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outils</a:t>
            </a:r>
            <a:r>
              <a:rPr sz="2000" dirty="0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dirty="0" err="1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limites</a:t>
            </a:r>
            <a:r>
              <a:rPr sz="2000" dirty="0">
                <a:solidFill>
                  <a:srgbClr val="1C37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perspectives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8061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2A5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01 - CONTEXTE &amp; ENJEUX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413901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variabilité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climatique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 rend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l’équilibre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énergétique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 plus difficile à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anticiper</a:t>
            </a:r>
            <a:endParaRPr sz="2400" dirty="0">
              <a:solidFill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682056"/>
            <a:ext cx="35350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B8DCF2"/>
            </a:solidFill>
            <a:prstDash val="solid"/>
          </a:ln>
          <a:effectLst>
            <a:outerShdw blurRad="101600" dist="38100" dir="5400000" algn="bl" rotWithShape="0">
              <a:srgbClr val="1A2733">
                <a:alpha val="12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86384" y="2901512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86384" y="2901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2F4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PV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86384" y="3505016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46%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92725" y="4071944"/>
            <a:ext cx="33910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 l'électricité mondiale d'origine renouvelable visée en 2030 (AIE, 2024)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12328" y="2691644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B8DCF2"/>
            </a:solidFill>
            <a:prstDash val="solid"/>
          </a:ln>
          <a:effectLst>
            <a:outerShdw blurRad="101600" dist="38100" dir="5400000" algn="bl" rotWithShape="0">
              <a:srgbClr val="1A2733">
                <a:alpha val="12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43984" y="2901512"/>
            <a:ext cx="457200" cy="457200"/>
          </a:xfrm>
          <a:prstGeom prst="ellipse">
            <a:avLst/>
          </a:prstGeom>
          <a:solidFill>
            <a:srgbClr val="3099D6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443984" y="2901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2F4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EO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443984" y="3505016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95%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443984" y="4045400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 la croissance renouvelable portée par le solaire et l'éolien d'ici 2030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863840" y="2682056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B8DCF2"/>
            </a:solidFill>
            <a:prstDash val="solid"/>
          </a:ln>
          <a:effectLst>
            <a:outerShdw blurRad="101600" dist="38100" dir="5400000" algn="bl" rotWithShape="0">
              <a:srgbClr val="1A2733">
                <a:alpha val="12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01584" y="2901512"/>
            <a:ext cx="457200" cy="457200"/>
          </a:xfrm>
          <a:prstGeom prst="ellipse">
            <a:avLst/>
          </a:prstGeom>
          <a:solidFill>
            <a:srgbClr val="C9524B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101584" y="2901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2F4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T°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101584" y="3505016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+0,486°C /décennie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986352" y="4036434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réchauffement mesuré à Fès sur 1990-2025, statistiquement significatif (p = 0,0001)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1430000" y="73018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875B86EA-5D51-73B4-BC59-55D3925C8F6F}"/>
              </a:ext>
            </a:extLst>
          </p:cNvPr>
          <p:cNvSpPr txBox="1"/>
          <p:nvPr/>
        </p:nvSpPr>
        <p:spPr>
          <a:xfrm>
            <a:off x="11430000" y="648651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7428" y="343175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2A5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02 - PROBLÉMATIQUE &amp; OBJECTIFS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173852"/>
            <a:ext cx="10789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Deux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échelles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temporelles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relient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prévision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énergétique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climat</a:t>
            </a:r>
            <a:endParaRPr sz="2400" dirty="0">
              <a:solidFill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73952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EC9944"/>
            </a:solidFill>
            <a:prstDash val="solid"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68680" y="1951092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i="1" dirty="0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« Comment exploiter les données énergétiques et climatiques, à l'aide de l'IA, pour améliorer l'anticipation de la production renouvelable et de la demande, tout en évaluant la sensibilité de leur équilibre aux changements climatiques ? »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246344"/>
            <a:ext cx="5285232" cy="3139588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B8DCF2"/>
            </a:solidFill>
            <a:prstDash val="solid"/>
          </a:ln>
          <a:effectLst>
            <a:outerShdw blurRad="88900" dist="25400" dir="5400000" algn="bl" rotWithShape="0">
              <a:srgbClr val="1A2733">
                <a:alpha val="10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04672" y="3715884"/>
            <a:ext cx="457200" cy="457200"/>
          </a:xfrm>
          <a:prstGeom prst="ellipse">
            <a:avLst/>
          </a:prstGeom>
          <a:solidFill>
            <a:srgbClr val="3099D6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04672" y="37158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2F4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417320" y="3697596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Axe 1 - Prévision énergétique H+1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04672" y="4328532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Photovoltaïque, éolien, demande électrique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Baseline </a:t>
            </a:r>
            <a:r>
              <a:rPr lang="en-US" sz="2000" dirty="0" err="1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saisonnière</a:t>
            </a:r>
            <a:r>
              <a:rPr lang="en-US" sz="20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    </a:t>
            </a:r>
            <a:r>
              <a:rPr lang="en-US" sz="2000" dirty="0" err="1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régression</a:t>
            </a:r>
            <a:r>
              <a:rPr lang="en-US" sz="20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HistGradientBoosting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Validation chronologique + walk-forward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Transférabilité : Allemagne &amp; Maroc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989320" y="3246344"/>
            <a:ext cx="5285232" cy="3139588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B8DCF2"/>
            </a:solidFill>
            <a:prstDash val="solid"/>
          </a:ln>
          <a:effectLst>
            <a:outerShdw blurRad="88900" dist="25400" dir="5400000" algn="bl" rotWithShape="0">
              <a:srgbClr val="1A2733">
                <a:alpha val="10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45352" y="3715884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245352" y="37158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2F4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858000" y="3697596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Axe 2 - Climat &amp; aide à la décision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245352" y="4328532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Tendances climatiques à Fès, 1990-2025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Relations </a:t>
            </a:r>
            <a:r>
              <a:rPr lang="en-US" sz="2000" dirty="0" err="1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climat</a:t>
            </a:r>
            <a:r>
              <a:rPr lang="en-US" sz="20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      </a:t>
            </a:r>
            <a:r>
              <a:rPr lang="en-US" sz="2000" dirty="0" err="1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énergie</a:t>
            </a:r>
            <a:r>
              <a:rPr lang="en-US" sz="20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(corrélations)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Scénarios de sensibilité température / rayonnement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Indicateurs de vigilance et d'adaptation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1430000" y="65042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4E1F26A5-2120-EAC8-0A9E-8EA056EEAA20}"/>
              </a:ext>
            </a:extLst>
          </p:cNvPr>
          <p:cNvCxnSpPr>
            <a:cxnSpLocks/>
          </p:cNvCxnSpPr>
          <p:nvPr/>
        </p:nvCxnSpPr>
        <p:spPr>
          <a:xfrm>
            <a:off x="3194892" y="4935557"/>
            <a:ext cx="484742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CAA10F3F-45BE-83E1-5314-4D51C4990232}"/>
              </a:ext>
            </a:extLst>
          </p:cNvPr>
          <p:cNvCxnSpPr>
            <a:cxnSpLocks/>
          </p:cNvCxnSpPr>
          <p:nvPr/>
        </p:nvCxnSpPr>
        <p:spPr>
          <a:xfrm>
            <a:off x="4869455" y="4935557"/>
            <a:ext cx="52881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3EBC4DC5-4CCF-68FA-E5C1-E291FD4FADC9}"/>
              </a:ext>
            </a:extLst>
          </p:cNvPr>
          <p:cNvCxnSpPr>
            <a:cxnSpLocks/>
          </p:cNvCxnSpPr>
          <p:nvPr/>
        </p:nvCxnSpPr>
        <p:spPr>
          <a:xfrm>
            <a:off x="8183696" y="4911687"/>
            <a:ext cx="618781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omb/>
      </p:transition>
    </mc:Choice>
    <mc:Fallback xmlns="">
      <p:transition spd="slow">
        <p:comb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153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2A5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03 - DONNÉES &amp; MÉTHODOLOGIE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036148"/>
            <a:ext cx="10789920" cy="503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protocole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temporel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rigoureux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évite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 les performances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artificielles</a:t>
            </a:r>
            <a:endParaRPr sz="2400" dirty="0">
              <a:solidFill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17718"/>
              </p:ext>
            </p:extLst>
          </p:nvPr>
        </p:nvGraphicFramePr>
        <p:xfrm>
          <a:off x="548640" y="2000538"/>
          <a:ext cx="10881361" cy="2660642"/>
        </p:xfrm>
        <a:graphic>
          <a:graphicData uri="http://schemas.openxmlformats.org/drawingml/2006/table">
            <a:tbl>
              <a:tblPr/>
              <a:tblGrid>
                <a:gridCol w="2814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7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9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Jeu de données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Origine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Volume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Rôle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9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42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Principal (CAISO / NREL)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42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Mendeley Data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42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315 648 obs. / pas 5 min / 2019-2021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42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Entraînement &amp; test H+1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89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42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Climat - région de Fès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42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NASA POWER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42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1990-2025 (35 ans)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42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Tendances &amp; scénarios climat-énergie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89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42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Allemagne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42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Open Power System Data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42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Séries horaires (charge, PV, éolien)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42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Validation externe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42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Maroc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42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Zenodo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42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8 760 obs. horaires (2015)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42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Étude de transférabilité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548640" y="5023274"/>
            <a:ext cx="5486400" cy="143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50" dirty="0">
                <a:solidFill>
                  <a:srgbClr val="3099D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PROTOCOLE D'ÉVALUATION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48640" y="5285345"/>
            <a:ext cx="2011680" cy="527799"/>
          </a:xfrm>
          <a:prstGeom prst="roundRect">
            <a:avLst>
              <a:gd name="adj" fmla="val 7273"/>
            </a:avLst>
          </a:prstGeom>
          <a:solidFill>
            <a:srgbClr val="CFEAFA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548640" y="5395073"/>
            <a:ext cx="2011680" cy="239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70%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48640" y="5879705"/>
            <a:ext cx="2011680" cy="191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Apprentissage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697480" y="5285345"/>
            <a:ext cx="2011680" cy="527799"/>
          </a:xfrm>
          <a:prstGeom prst="roundRect">
            <a:avLst>
              <a:gd name="adj" fmla="val 7273"/>
            </a:avLst>
          </a:prstGeom>
          <a:solidFill>
            <a:srgbClr val="CFEAFA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2697480" y="5395073"/>
            <a:ext cx="2011680" cy="239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15%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2697480" y="5879705"/>
            <a:ext cx="2011680" cy="191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Validation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846320" y="5285345"/>
            <a:ext cx="2011680" cy="527799"/>
          </a:xfrm>
          <a:prstGeom prst="roundRect">
            <a:avLst>
              <a:gd name="adj" fmla="val 7273"/>
            </a:avLst>
          </a:prstGeom>
          <a:solidFill>
            <a:srgbClr val="CFEAFA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4846320" y="5395073"/>
            <a:ext cx="2011680" cy="239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15%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4846320" y="5879705"/>
            <a:ext cx="2011680" cy="191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 final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995160" y="5285345"/>
            <a:ext cx="2011680" cy="527799"/>
          </a:xfrm>
          <a:prstGeom prst="roundRect">
            <a:avLst>
              <a:gd name="adj" fmla="val 7273"/>
            </a:avLst>
          </a:prstGeom>
          <a:solidFill>
            <a:srgbClr val="3099D6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6995160" y="5395073"/>
            <a:ext cx="2011680" cy="239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3×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6995160" y="5879705"/>
            <a:ext cx="2011680" cy="191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Walk-forward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144000" y="5285345"/>
            <a:ext cx="2011680" cy="527799"/>
          </a:xfrm>
          <a:prstGeom prst="roundRect">
            <a:avLst>
              <a:gd name="adj" fmla="val 7273"/>
            </a:avLst>
          </a:prstGeom>
          <a:solidFill>
            <a:srgbClr val="3099D6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9144000" y="5395073"/>
            <a:ext cx="2011680" cy="239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J-1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9144000" y="5879705"/>
            <a:ext cx="2011680" cy="191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Baseline naïve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11430000" y="6519672"/>
            <a:ext cx="457200" cy="143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2A5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04 - RÉSULTATS DE PRÉVISION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51761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Le ML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réduit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 le RMSE de 51,67 % à 85,46 % face à la baseline</a:t>
            </a: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957328094"/>
              </p:ext>
            </p:extLst>
          </p:nvPr>
        </p:nvGraphicFramePr>
        <p:xfrm>
          <a:off x="464598" y="1711881"/>
          <a:ext cx="5479002" cy="34087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289305"/>
            <a:ext cx="5555202" cy="3831336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B8DCF2"/>
            </a:solidFill>
            <a:prstDash val="solid"/>
          </a:ln>
          <a:effectLst>
            <a:outerShdw blurRad="76200" dist="25400" dir="5400000" algn="bl" rotWithShape="0">
              <a:srgbClr val="1A2733">
                <a:alpha val="10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/home/claude/figs/demand_prediction_vs_rea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81928" y="1615736"/>
            <a:ext cx="5401880" cy="3120856"/>
          </a:xfrm>
          <a:prstGeom prst="rect">
            <a:avLst/>
          </a:prstGeom>
          <a:ln/>
        </p:spPr>
      </p:pic>
      <p:sp>
        <p:nvSpPr>
          <p:cNvPr id="7" name="Text 3"/>
          <p:cNvSpPr txBox="1"/>
          <p:nvPr/>
        </p:nvSpPr>
        <p:spPr>
          <a:xfrm>
            <a:off x="6281928" y="4736592"/>
            <a:ext cx="54454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Demande électrique : valeurs réelles vs prédites (H+1)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640080" y="5477256"/>
            <a:ext cx="1104372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8DCF2"/>
            </a:solidFill>
            <a:prstDash val="solid"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777240" y="5477256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3D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Modèle retenu par cible :  </a:t>
            </a:r>
            <a:r>
              <a:rPr lang="en-US" sz="2000" b="1" dirty="0" err="1">
                <a:solidFill>
                  <a:srgbClr val="3099D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HistGradientBoosting</a:t>
            </a:r>
            <a:r>
              <a:rPr lang="en-US" sz="20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Photovoltaïque &amp; </a:t>
            </a:r>
            <a:r>
              <a:rPr lang="en-US" sz="2000" dirty="0" err="1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Demande</a:t>
            </a:r>
            <a:r>
              <a:rPr lang="en-US" sz="20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      </a:t>
            </a:r>
            <a:r>
              <a:rPr lang="en-US" sz="2000" b="1" dirty="0">
                <a:solidFill>
                  <a:srgbClr val="F2A5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Régression </a:t>
            </a:r>
            <a:r>
              <a:rPr lang="en-US" sz="2000" b="1" dirty="0" err="1">
                <a:solidFill>
                  <a:srgbClr val="F2A5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linéaire</a:t>
            </a:r>
            <a:r>
              <a:rPr lang="en-US" sz="20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       </a:t>
            </a:r>
            <a:r>
              <a:rPr lang="en-US" sz="2000" dirty="0" err="1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Éolien</a:t>
            </a:r>
            <a:r>
              <a:rPr lang="en-US" sz="20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(sélection sur le jeu de validation, indépendante du test)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AA25159D-940B-1E2F-C0B7-7C2EDC47A307}"/>
              </a:ext>
            </a:extLst>
          </p:cNvPr>
          <p:cNvCxnSpPr/>
          <p:nvPr/>
        </p:nvCxnSpPr>
        <p:spPr>
          <a:xfrm>
            <a:off x="9099933" y="5706737"/>
            <a:ext cx="61694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C3D9A72A-4AB6-EE0A-FA7E-0552E5DF3D8A}"/>
              </a:ext>
            </a:extLst>
          </p:cNvPr>
          <p:cNvCxnSpPr/>
          <p:nvPr/>
        </p:nvCxnSpPr>
        <p:spPr>
          <a:xfrm>
            <a:off x="1696597" y="6004193"/>
            <a:ext cx="61694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crush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39" y="90996"/>
            <a:ext cx="888832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2A5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05 - ROBUSTESSE &amp; TRANSFÉRABILITÉ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1536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La validation externe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révèle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véritable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 point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faible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l’éolien</a:t>
            </a:r>
            <a:endParaRPr sz="2400" dirty="0">
              <a:solidFill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26128" y="1994932"/>
            <a:ext cx="5433134" cy="38775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B8DCF2"/>
            </a:solidFill>
            <a:prstDash val="solid"/>
          </a:ln>
          <a:effectLst>
            <a:outerShdw blurRad="76200" dist="25400" dir="5400000" algn="bl" rotWithShape="0">
              <a:srgbClr val="1A2733">
                <a:alpha val="10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home/claude/figs/walk_forward_rms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9439" y="2262416"/>
            <a:ext cx="5286268" cy="2988224"/>
          </a:xfrm>
          <a:prstGeom prst="rect">
            <a:avLst/>
          </a:prstGeom>
          <a:ln/>
        </p:spPr>
      </p:pic>
      <p:sp>
        <p:nvSpPr>
          <p:cNvPr id="6" name="Text 3"/>
          <p:cNvSpPr txBox="1"/>
          <p:nvPr/>
        </p:nvSpPr>
        <p:spPr>
          <a:xfrm>
            <a:off x="658368" y="5342080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Stabilité du RMSE - validation walk-forward (3 fenêtres)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264164441"/>
              </p:ext>
            </p:extLst>
          </p:nvPr>
        </p:nvGraphicFramePr>
        <p:xfrm>
          <a:off x="5989320" y="2324560"/>
          <a:ext cx="5433134" cy="3107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5" name="Encre 24">
                <a:extLst>
                  <a:ext uri="{FF2B5EF4-FFF2-40B4-BE49-F238E27FC236}">
                    <a16:creationId xmlns:a16="http://schemas.microsoft.com/office/drawing/2014/main" id="{38B07C0E-D7A8-D6D5-2FC2-A7C408536BDD}"/>
                  </a:ext>
                </a:extLst>
              </p14:cNvPr>
              <p14:cNvContentPartPr/>
              <p14:nvPr/>
            </p14:nvContentPartPr>
            <p14:xfrm>
              <a:off x="8779600" y="2523327"/>
              <a:ext cx="360" cy="12600"/>
            </p14:xfrm>
          </p:contentPart>
        </mc:Choice>
        <mc:Fallback xmlns="">
          <p:pic>
            <p:nvPicPr>
              <p:cNvPr id="25" name="Encre 24">
                <a:extLst>
                  <a:ext uri="{FF2B5EF4-FFF2-40B4-BE49-F238E27FC236}">
                    <a16:creationId xmlns:a16="http://schemas.microsoft.com/office/drawing/2014/main" id="{38B07C0E-D7A8-D6D5-2FC2-A7C408536BD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61960" y="2505687"/>
                <a:ext cx="3600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6" name="Encre 25">
                <a:extLst>
                  <a:ext uri="{FF2B5EF4-FFF2-40B4-BE49-F238E27FC236}">
                    <a16:creationId xmlns:a16="http://schemas.microsoft.com/office/drawing/2014/main" id="{B725E26F-76D2-3F25-4B67-E5D2349E04C5}"/>
                  </a:ext>
                </a:extLst>
              </p14:cNvPr>
              <p14:cNvContentPartPr/>
              <p14:nvPr/>
            </p14:nvContentPartPr>
            <p14:xfrm>
              <a:off x="8883280" y="2482647"/>
              <a:ext cx="2880" cy="44640"/>
            </p14:xfrm>
          </p:contentPart>
        </mc:Choice>
        <mc:Fallback xmlns="">
          <p:pic>
            <p:nvPicPr>
              <p:cNvPr id="26" name="Encre 25">
                <a:extLst>
                  <a:ext uri="{FF2B5EF4-FFF2-40B4-BE49-F238E27FC236}">
                    <a16:creationId xmlns:a16="http://schemas.microsoft.com/office/drawing/2014/main" id="{B725E26F-76D2-3F25-4B67-E5D2349E04C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65280" y="2465007"/>
                <a:ext cx="38520" cy="80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fallOve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2A5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06 - ANALYSE CLIMATIQUE 1990-2025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133909"/>
            <a:ext cx="10789920" cy="379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Fès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, la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température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augmente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 de +0,486 °C par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décennie</a:t>
            </a:r>
            <a:endParaRPr sz="2400" dirty="0">
              <a:solidFill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90617" y="1994381"/>
            <a:ext cx="6467383" cy="4427915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B8DCF2"/>
            </a:solidFill>
            <a:prstDash val="solid"/>
          </a:ln>
          <a:effectLst>
            <a:outerShdw blurRad="76200" dist="25400" dir="5400000" algn="bl" rotWithShape="0">
              <a:srgbClr val="1A2733">
                <a:alpha val="10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home/claude/figs/climate_temperature_trend_1990_202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7586" y="2258670"/>
            <a:ext cx="6420414" cy="3573974"/>
          </a:xfrm>
          <a:prstGeom prst="rect">
            <a:avLst/>
          </a:prstGeom>
          <a:ln/>
        </p:spPr>
      </p:pic>
      <p:sp>
        <p:nvSpPr>
          <p:cNvPr id="6" name="Text 3"/>
          <p:cNvSpPr txBox="1"/>
          <p:nvPr/>
        </p:nvSpPr>
        <p:spPr>
          <a:xfrm>
            <a:off x="658368" y="5999454"/>
            <a:ext cx="6089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Température moyenne annuelle à Fès, 1990-2025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040880" y="2533878"/>
            <a:ext cx="4493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8DCF2"/>
            </a:solidFill>
            <a:prstDash val="solid"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223760" y="2607030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E302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+0,486°C /décennie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9006840" y="2607030"/>
            <a:ext cx="2527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tendance significative (p = 0,000142)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040880" y="3484854"/>
            <a:ext cx="4493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8DCF2"/>
            </a:solidFill>
            <a:prstDash val="solid"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7223760" y="3558006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E302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+1,38°C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9006840" y="3558006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entre 1990-1999 et 2016-2025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040880" y="4435830"/>
            <a:ext cx="4493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8DCF2"/>
            </a:solidFill>
            <a:prstDash val="solid"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7223760" y="4508982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099D6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 = 0,74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9006840" y="4508982"/>
            <a:ext cx="2527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rayonnement </a:t>
            </a:r>
            <a:r>
              <a:rPr lang="en-US" sz="1800" dirty="0" err="1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solaire</a:t>
            </a:r>
            <a:r>
              <a:rPr lang="en-US" sz="18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production PV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040880" y="5386806"/>
            <a:ext cx="4493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8DCF2"/>
            </a:solidFill>
            <a:prstDash val="solid"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7223760" y="5459958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099D6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 = 0,71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9006840" y="5459958"/>
            <a:ext cx="2527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 err="1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température</a:t>
            </a:r>
            <a:r>
              <a:rPr lang="en-US" sz="18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     </a:t>
            </a:r>
            <a:r>
              <a:rPr lang="en-US" sz="1800" dirty="0" err="1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demande</a:t>
            </a:r>
            <a:r>
              <a:rPr lang="en-US" sz="18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électrique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B7D47776-B803-7EFC-E5F3-F4DB3780DCDC}"/>
              </a:ext>
            </a:extLst>
          </p:cNvPr>
          <p:cNvCxnSpPr>
            <a:cxnSpLocks/>
          </p:cNvCxnSpPr>
          <p:nvPr/>
        </p:nvCxnSpPr>
        <p:spPr>
          <a:xfrm>
            <a:off x="10895682" y="4781320"/>
            <a:ext cx="484742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7325AF3D-602E-139A-F449-86F664CD6A47}"/>
              </a:ext>
            </a:extLst>
          </p:cNvPr>
          <p:cNvCxnSpPr>
            <a:cxnSpLocks/>
          </p:cNvCxnSpPr>
          <p:nvPr/>
        </p:nvCxnSpPr>
        <p:spPr>
          <a:xfrm>
            <a:off x="10166733" y="5693884"/>
            <a:ext cx="484742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59A40-2C6A-553C-F62A-B99C33E51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D7836B-A4A1-B3C8-1708-8A5A55A24741}"/>
              </a:ext>
            </a:extLst>
          </p:cNvPr>
          <p:cNvSpPr txBox="1"/>
          <p:nvPr/>
        </p:nvSpPr>
        <p:spPr>
          <a:xfrm>
            <a:off x="548640" y="384048"/>
            <a:ext cx="1133856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2A5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07 - SCÉNARIOS DE SENSIBILITÉ &amp; AIDE À LA DÉCISION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F1FED4-2680-E78F-4A4B-0C7FDEF9CF28}"/>
              </a:ext>
            </a:extLst>
          </p:cNvPr>
          <p:cNvSpPr txBox="1"/>
          <p:nvPr/>
        </p:nvSpPr>
        <p:spPr>
          <a:xfrm>
            <a:off x="548640" y="864062"/>
            <a:ext cx="10881360" cy="422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scénario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2 °C / </a:t>
            </a:r>
            <a:r>
              <a:rPr lang="fr-FR"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10 %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solaire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dégrade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l’équilibre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énergétique</a:t>
            </a:r>
            <a:endParaRPr sz="2400" dirty="0">
              <a:solidFill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F54548A-002B-8BF8-87C3-17A389D9C3EE}"/>
              </a:ext>
            </a:extLst>
          </p:cNvPr>
          <p:cNvSpPr/>
          <p:nvPr/>
        </p:nvSpPr>
        <p:spPr>
          <a:xfrm>
            <a:off x="539496" y="1493564"/>
            <a:ext cx="5166360" cy="3287757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B8DCF2"/>
            </a:solidFill>
            <a:prstDash val="solid"/>
          </a:ln>
          <a:effectLst>
            <a:outerShdw blurRad="76200" dist="25400" dir="5400000" algn="bl" rotWithShape="0">
              <a:srgbClr val="1A2733">
                <a:alpha val="10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home/claude/figs/climate_scenarios_energy_deficit.png">
            <a:extLst>
              <a:ext uri="{FF2B5EF4-FFF2-40B4-BE49-F238E27FC236}">
                <a16:creationId xmlns:a16="http://schemas.microsoft.com/office/drawing/2014/main" id="{CD7C1A02-8164-3349-1A97-A58EAA6D6E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6364" y="1567207"/>
            <a:ext cx="4992624" cy="3214114"/>
          </a:xfrm>
          <a:prstGeom prst="rect">
            <a:avLst/>
          </a:prstGeom>
          <a:ln/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A776D638-4E19-42E6-7AF9-E9951E87B031}"/>
              </a:ext>
            </a:extLst>
          </p:cNvPr>
          <p:cNvSpPr txBox="1"/>
          <p:nvPr/>
        </p:nvSpPr>
        <p:spPr>
          <a:xfrm>
            <a:off x="548640" y="4878182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Déficit énergétique selon les scénarios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562603B-98AE-065D-A65D-4AD7D0670F71}"/>
              </a:ext>
            </a:extLst>
          </p:cNvPr>
          <p:cNvSpPr/>
          <p:nvPr/>
        </p:nvSpPr>
        <p:spPr>
          <a:xfrm>
            <a:off x="5943600" y="1488283"/>
            <a:ext cx="5212080" cy="3293039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B8DCF2"/>
            </a:solidFill>
            <a:prstDash val="solid"/>
          </a:ln>
          <a:effectLst>
            <a:outerShdw blurRad="76200" dist="25400" dir="5400000" algn="bl" rotWithShape="0">
              <a:srgbClr val="1A2733">
                <a:alpha val="10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/home/claude/figs/climate_energy_adaptation_effort.png">
            <a:extLst>
              <a:ext uri="{FF2B5EF4-FFF2-40B4-BE49-F238E27FC236}">
                <a16:creationId xmlns:a16="http://schemas.microsoft.com/office/drawing/2014/main" id="{C3E2F7CA-3C06-8A4F-060A-E3D94C9244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89320" y="1572267"/>
            <a:ext cx="4992624" cy="3225050"/>
          </a:xfrm>
          <a:prstGeom prst="rect">
            <a:avLst/>
          </a:prstGeom>
          <a:ln/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68D35E70-45DB-A7E8-2362-7CC85F57FE4D}"/>
              </a:ext>
            </a:extLst>
          </p:cNvPr>
          <p:cNvSpPr txBox="1"/>
          <p:nvPr/>
        </p:nvSpPr>
        <p:spPr>
          <a:xfrm>
            <a:off x="6287010" y="4828005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Effort d'adaptation estimé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4B27A628-40B7-2B44-54AD-0DC42E0C78DD}"/>
              </a:ext>
            </a:extLst>
          </p:cNvPr>
          <p:cNvSpPr/>
          <p:nvPr/>
        </p:nvSpPr>
        <p:spPr>
          <a:xfrm>
            <a:off x="599606" y="5322696"/>
            <a:ext cx="4877916" cy="620903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B8DCF2"/>
            </a:solidFill>
            <a:prstDash val="solid"/>
          </a:ln>
          <a:effectLst>
            <a:outerShdw blurRad="101600" dist="38100" dir="5400000" algn="bl" rotWithShape="0">
              <a:srgbClr val="1A2733">
                <a:alpha val="12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A1CEC7B-F361-CDB0-B9E6-714ED76DC8A9}"/>
              </a:ext>
            </a:extLst>
          </p:cNvPr>
          <p:cNvSpPr/>
          <p:nvPr/>
        </p:nvSpPr>
        <p:spPr>
          <a:xfrm>
            <a:off x="689794" y="5413490"/>
            <a:ext cx="457200" cy="457200"/>
          </a:xfrm>
          <a:prstGeom prst="ellipse">
            <a:avLst/>
          </a:prstGeom>
          <a:solidFill>
            <a:srgbClr val="C9524B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8F439185-94D6-B645-0FED-021EA2785BB8}"/>
              </a:ext>
            </a:extLst>
          </p:cNvPr>
          <p:cNvSpPr txBox="1"/>
          <p:nvPr/>
        </p:nvSpPr>
        <p:spPr>
          <a:xfrm>
            <a:off x="689794" y="539332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2F4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6BE0CC1-385C-8693-A898-531BE68815CF}"/>
              </a:ext>
            </a:extLst>
          </p:cNvPr>
          <p:cNvSpPr txBox="1"/>
          <p:nvPr/>
        </p:nvSpPr>
        <p:spPr>
          <a:xfrm>
            <a:off x="2236424" y="5441350"/>
            <a:ext cx="3241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21,21%          19,91%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8CED715E-F9E5-9605-BF43-A0A781DC57C9}"/>
              </a:ext>
            </a:extLst>
          </p:cNvPr>
          <p:cNvSpPr txBox="1"/>
          <p:nvPr/>
        </p:nvSpPr>
        <p:spPr>
          <a:xfrm>
            <a:off x="626364" y="604046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taux de couverture renouvelable - scénario +2°C / -10% de rayonnement</a:t>
            </a:r>
            <a:endParaRPr lang="en-US" sz="115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9F21E855-58F9-67F9-31FD-590067207FB9}"/>
              </a:ext>
            </a:extLst>
          </p:cNvPr>
          <p:cNvSpPr/>
          <p:nvPr/>
        </p:nvSpPr>
        <p:spPr>
          <a:xfrm>
            <a:off x="6078748" y="5322697"/>
            <a:ext cx="5076932" cy="620902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B8DCF2"/>
            </a:solidFill>
            <a:prstDash val="solid"/>
          </a:ln>
          <a:effectLst>
            <a:outerShdw blurRad="101600" dist="38100" dir="5400000" algn="bl" rotWithShape="0">
              <a:srgbClr val="1A2733">
                <a:alpha val="12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9AF22B78-43F1-3234-1530-6979D50A68CD}"/>
              </a:ext>
            </a:extLst>
          </p:cNvPr>
          <p:cNvSpPr/>
          <p:nvPr/>
        </p:nvSpPr>
        <p:spPr>
          <a:xfrm>
            <a:off x="6287010" y="541349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104124EF-3F1B-9682-AEDB-A6BE9CC672F9}"/>
              </a:ext>
            </a:extLst>
          </p:cNvPr>
          <p:cNvSpPr txBox="1"/>
          <p:nvPr/>
        </p:nvSpPr>
        <p:spPr>
          <a:xfrm>
            <a:off x="6294290" y="539749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2F4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3FA9E549-F0CE-1A3D-F85C-00818762C283}"/>
              </a:ext>
            </a:extLst>
          </p:cNvPr>
          <p:cNvSpPr txBox="1"/>
          <p:nvPr/>
        </p:nvSpPr>
        <p:spPr>
          <a:xfrm>
            <a:off x="9969964" y="5398864"/>
            <a:ext cx="108113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63D6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6,58%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8DFFD76B-BE5A-E608-5CEC-B66C09FB85B2}"/>
              </a:ext>
            </a:extLst>
          </p:cNvPr>
          <p:cNvSpPr txBox="1"/>
          <p:nvPr/>
        </p:nvSpPr>
        <p:spPr>
          <a:xfrm>
            <a:off x="6096000" y="604046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effort d'adaptation théorique dans le scénario le plus défavorable</a:t>
            </a:r>
            <a:endParaRPr lang="en-US" sz="115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C8CA34A9-00C4-D6BB-D538-B9819F7B8D64}"/>
              </a:ext>
            </a:extLst>
          </p:cNvPr>
          <p:cNvSpPr txBox="1"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412CCF01-5C71-AA9F-08E2-D374B6EA3B37}"/>
              </a:ext>
            </a:extLst>
          </p:cNvPr>
          <p:cNvCxnSpPr/>
          <p:nvPr/>
        </p:nvCxnSpPr>
        <p:spPr>
          <a:xfrm>
            <a:off x="3547431" y="5640636"/>
            <a:ext cx="61694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207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7553"/>
            <a:ext cx="8595360" cy="49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2A5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08 - RESTITUTION &amp; MISE EN PRATIQUE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349962" y="884293"/>
            <a:ext cx="10881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Du notebook à un prototype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d’aide</a:t>
            </a:r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 à la </a:t>
            </a:r>
            <a:r>
              <a:rPr sz="2400" dirty="0" err="1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décision</a:t>
            </a:r>
            <a:endParaRPr sz="2400" dirty="0">
              <a:solidFill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1841" y="1606482"/>
            <a:ext cx="6921919" cy="420956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B8DCF2"/>
            </a:solidFill>
            <a:prstDash val="solid"/>
          </a:ln>
          <a:effectLst>
            <a:outerShdw blurRad="76200" dist="25400" dir="5400000" algn="bl" rotWithShape="0">
              <a:srgbClr val="1A2733">
                <a:alpha val="10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home/claude/figs/streamlit_ap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9962" y="1658195"/>
            <a:ext cx="6825676" cy="4032327"/>
          </a:xfrm>
          <a:prstGeom prst="rect">
            <a:avLst/>
          </a:prstGeom>
          <a:ln/>
        </p:spPr>
      </p:pic>
      <p:sp>
        <p:nvSpPr>
          <p:cNvPr id="6" name="Text 3"/>
          <p:cNvSpPr txBox="1"/>
          <p:nvPr/>
        </p:nvSpPr>
        <p:spPr>
          <a:xfrm>
            <a:off x="768096" y="6151050"/>
            <a:ext cx="6455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Application Streamlit - prévision H+1, climat, scénarios (page "Performances des modèles")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388352" y="1564090"/>
            <a:ext cx="4114800" cy="42519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B8DCF2"/>
            </a:solidFill>
            <a:prstDash val="solid"/>
          </a:ln>
          <a:effectLst>
            <a:outerShdw blurRad="76200" dist="25400" dir="5400000" algn="bl" rotWithShape="0">
              <a:srgbClr val="1A2733">
                <a:alpha val="10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1" descr="/home/claude/figs/powerbi_dashboar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98080" y="1606482"/>
            <a:ext cx="3895344" cy="4084040"/>
          </a:xfrm>
          <a:prstGeom prst="rect">
            <a:avLst/>
          </a:prstGeom>
          <a:ln/>
        </p:spPr>
      </p:pic>
      <p:sp>
        <p:nvSpPr>
          <p:cNvPr id="11" name="Text 7"/>
          <p:cNvSpPr txBox="1"/>
          <p:nvPr/>
        </p:nvSpPr>
        <p:spPr>
          <a:xfrm>
            <a:off x="7607808" y="6049046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Tableau de bord Power BI - vue de restitution synthétique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27104" y="-2043626"/>
            <a:ext cx="5410384" cy="2623794"/>
          </a:xfrm>
          <a:prstGeom prst="ellipse">
            <a:avLst/>
          </a:prstGeom>
          <a:solidFill>
            <a:srgbClr val="3099D6">
              <a:alpha val="15000"/>
            </a:srgbClr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009925" y="3579934"/>
            <a:ext cx="5486400" cy="5486400"/>
          </a:xfrm>
          <a:prstGeom prst="ellipse">
            <a:avLst/>
          </a:prstGeom>
          <a:solidFill>
            <a:srgbClr val="F2A541">
              <a:alpha val="12000"/>
            </a:srgbClr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78088" y="393073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2A5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 &amp; PERSPECTIVES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1128809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dirty="0" err="1">
                <a:solidFill>
                  <a:srgbClr val="063D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Prévoir</a:t>
            </a:r>
            <a:r>
              <a:rPr sz="2400" dirty="0">
                <a:solidFill>
                  <a:srgbClr val="063D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valider, </a:t>
            </a:r>
            <a:r>
              <a:rPr sz="2400" dirty="0" err="1">
                <a:solidFill>
                  <a:srgbClr val="063D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anticiper</a:t>
            </a:r>
            <a:r>
              <a:rPr sz="2400" dirty="0">
                <a:solidFill>
                  <a:srgbClr val="063D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 err="1">
                <a:solidFill>
                  <a:srgbClr val="063D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décider</a:t>
            </a:r>
            <a:endParaRPr sz="2400" dirty="0">
              <a:solidFill>
                <a:srgbClr val="063D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62940" y="1865434"/>
            <a:ext cx="3337560" cy="1417320"/>
          </a:xfrm>
          <a:prstGeom prst="roundRect">
            <a:avLst>
              <a:gd name="adj" fmla="val 5806"/>
            </a:avLst>
          </a:prstGeom>
          <a:solidFill>
            <a:srgbClr val="CFEAFA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68680" y="186543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85,46%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68680" y="2505514"/>
            <a:ext cx="30481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 gain RMSE sur la demande vs baseline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75834" y="1869651"/>
            <a:ext cx="3337560" cy="1417320"/>
          </a:xfrm>
          <a:prstGeom prst="roundRect">
            <a:avLst>
              <a:gd name="adj" fmla="val 5806"/>
            </a:avLst>
          </a:prstGeom>
          <a:solidFill>
            <a:srgbClr val="CFEAFA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343400" y="1856113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+0,486°C /décennie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377135" y="2468671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réchauffement mesuré à Fès, 1990-2025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772400" y="1865434"/>
            <a:ext cx="3337560" cy="1417320"/>
          </a:xfrm>
          <a:prstGeom prst="roundRect">
            <a:avLst>
              <a:gd name="adj" fmla="val 5806"/>
            </a:avLst>
          </a:prstGeom>
          <a:solidFill>
            <a:srgbClr val="CFEAFA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955280" y="184934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6,58%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955280" y="250551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D69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effort d'adaptation dans le pire scénario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2940" y="376836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LIMITES MAÎTRISÉES · PERSPECTIVES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640080" y="4265734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Vent mesuré à hauteur réelle de turbine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 err="1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Intégration</a:t>
            </a:r>
            <a:r>
              <a:rPr lang="en-US" sz="20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du stockage &amp; des contraintes réseau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22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Quantification de l'incertitude des modèles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" y="5865934"/>
            <a:ext cx="10881360" cy="0"/>
          </a:xfrm>
          <a:prstGeom prst="line">
            <a:avLst/>
          </a:prstGeom>
          <a:noFill/>
          <a:ln w="12700">
            <a:solidFill>
              <a:srgbClr val="B8DCF2"/>
            </a:solidFill>
            <a:prstDash val="solid"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13D128-7F62-7F10-DF6C-29DC6895A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CC899B2-4E48-2A1A-D83F-01630E9AA8FC}"/>
              </a:ext>
            </a:extLst>
          </p:cNvPr>
          <p:cNvSpPr/>
          <p:nvPr/>
        </p:nvSpPr>
        <p:spPr>
          <a:xfrm>
            <a:off x="-944172" y="-827776"/>
            <a:ext cx="5943600" cy="5943600"/>
          </a:xfrm>
          <a:prstGeom prst="ellipse">
            <a:avLst/>
          </a:prstGeom>
          <a:solidFill>
            <a:srgbClr val="3099D6">
              <a:alpha val="15000"/>
            </a:srgbClr>
          </a:solidFill>
          <a:ln/>
        </p:spPr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219862B-542D-C249-FD22-50B8FC78FA79}"/>
              </a:ext>
            </a:extLst>
          </p:cNvPr>
          <p:cNvSpPr/>
          <p:nvPr/>
        </p:nvSpPr>
        <p:spPr>
          <a:xfrm>
            <a:off x="6341444" y="973345"/>
            <a:ext cx="7311649" cy="6592557"/>
          </a:xfrm>
          <a:prstGeom prst="ellipse">
            <a:avLst/>
          </a:prstGeom>
          <a:solidFill>
            <a:srgbClr val="F2A541">
              <a:alpha val="12000"/>
            </a:srgbClr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F50D431-1C2F-6BF7-26DC-67E4CA825BF8}"/>
              </a:ext>
            </a:extLst>
          </p:cNvPr>
          <p:cNvSpPr/>
          <p:nvPr/>
        </p:nvSpPr>
        <p:spPr>
          <a:xfrm>
            <a:off x="640080" y="5623560"/>
            <a:ext cx="10881360" cy="0"/>
          </a:xfrm>
          <a:prstGeom prst="line">
            <a:avLst/>
          </a:prstGeom>
          <a:noFill/>
          <a:ln w="12700">
            <a:solidFill>
              <a:srgbClr val="B8DCF2"/>
            </a:solidFill>
            <a:prstDash val="solid"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D76DC03C-3B70-DD5D-4683-CB8DC3721D4C}"/>
              </a:ext>
            </a:extLst>
          </p:cNvPr>
          <p:cNvSpPr txBox="1"/>
          <p:nvPr/>
        </p:nvSpPr>
        <p:spPr>
          <a:xfrm>
            <a:off x="5167250" y="3354794"/>
            <a:ext cx="1006372" cy="119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9600" dirty="0"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MERC     I</a:t>
            </a:r>
            <a:endParaRPr sz="9600" dirty="0">
              <a:solidFill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011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airplan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3A4A445CCB9E4AB7DC02E7A355E100" ma:contentTypeVersion="5" ma:contentTypeDescription="Crée un document." ma:contentTypeScope="" ma:versionID="d687dd6f5d10558f93b79649ced81cfc">
  <xsd:schema xmlns:xsd="http://www.w3.org/2001/XMLSchema" xmlns:xs="http://www.w3.org/2001/XMLSchema" xmlns:p="http://schemas.microsoft.com/office/2006/metadata/properties" xmlns:ns3="10e5ea7e-afab-4aae-9631-f45bae9db0bd" targetNamespace="http://schemas.microsoft.com/office/2006/metadata/properties" ma:root="true" ma:fieldsID="da995fb4cb8c661c2f574f475a7f8f07" ns3:_="">
    <xsd:import namespace="10e5ea7e-afab-4aae-9631-f45bae9db0b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e5ea7e-afab-4aae-9631-f45bae9db0b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0e5ea7e-afab-4aae-9631-f45bae9db0b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4A37ACD-52AB-4A8E-A344-F3915819D8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e5ea7e-afab-4aae-9631-f45bae9db0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19FEBD7-B86B-461B-BEE8-FE24A311F187}">
  <ds:schemaRefs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10e5ea7e-afab-4aae-9631-f45bae9db0bd"/>
    <ds:schemaRef ds:uri="http://purl.org/dc/terms/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60DA3FD-2397-4CB4-AB00-71AAEAA0F83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753</Words>
  <Application>Microsoft Office PowerPoint</Application>
  <PresentationFormat>Grand écran</PresentationFormat>
  <Paragraphs>151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Celestine LENO</cp:lastModifiedBy>
  <cp:revision>10</cp:revision>
  <dcterms:created xsi:type="dcterms:W3CDTF">2026-09-06T22:59:50Z</dcterms:created>
  <dcterms:modified xsi:type="dcterms:W3CDTF">2026-10-19T11:36:56Z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0x010100183A4A445CCB9E4AB7DC02E7A355E100</vt:lpwstr>
  </property>
</Properties>
</file>